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6FCE17-31AE-4026-AD89-DFBC01C194A8}">
  <a:tblStyle styleId="{AC6FCE17-31AE-4026-AD89-DFBC01C194A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PORTADA. Cambiar solo el mes de referencia. Mantener siempre el mismo formato para que cada reunion se archive igual.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 FIJA. No cambiar el orden entre reuniones: la repeticion es lo que hace que el equipo llegue preparado.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CUADRO DE MANDO. Cuatro cifras y nada mas. Verde = por encima de objetivo, rojo = por debajo. Sustituir los ejemplos por los datos del mes.</a:t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GRAFICO NATIVO DE POWERPOINT: doble clic sobre el grafico abre la hoja de datos. Se pegan los valores nuevos y el grafico se actualiza solo. No hay que rehacer nada.</a:t>
            </a:r>
            <a:endParaRPr/>
          </a:p>
        </p:txBody>
      </p:sp>
      <p:sp>
        <p:nvSpPr>
          <p:cNvPr id="88" name="Google Shape;8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par de graficos revela la dependencia comercial. Si 'venta directa' es casi todo, el crecimiento esta limitado por las horas del gerente.</a:t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ultima fila —las perdidas— es la mas valiosa. Anotar SIEMPRE la causa: precio, plazo de entrega, competencia o falta de seguimiento.</a:t>
            </a:r>
            <a:endParaRPr/>
          </a:p>
        </p:txBody>
      </p:sp>
      <p:sp>
        <p:nvSpPr>
          <p:cNvPr id="115" name="Google Shape;1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Aqui se ve si la empresa puede absorber el crecimiento comercial. Vender mas de lo que el taller monta genera plazos largos y cancelaciones.</a:t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cuarto bloque conecta postventa con marketing: el soporte directo del fabricante es el argumento de venta de La Norma, pero no deja rastro publico si nadie pide la reseña.</a:t>
            </a:r>
            <a:endParaRPr/>
          </a:p>
        </p:txBody>
      </p:sp>
      <p:sp>
        <p:nvSpPr>
          <p:cNvPr id="153" name="Google Shape;15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Sustituir por datos reales de Google Analytics, Google Business Profile y LinkedIn. Si algun dato no se puede medir hoy, esa es la primera tarea.</a:t>
            </a:r>
            <a:endParaRPr/>
          </a:p>
        </p:txBody>
      </p:sp>
      <p:sp>
        <p:nvSpPr>
          <p:cNvPr id="186" name="Google Shape;18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 cifras de facturacion van en miles de euros para que las cuatro barras compartan escala.</a:t>
            </a:r>
            <a:endParaRPr/>
          </a:p>
        </p:txBody>
      </p:sp>
      <p:sp>
        <p:nvSpPr>
          <p:cNvPr id="200" name="Google Shape;20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es la diapositiva que convierte una reunion en gestion. Copiarla al inicio de la presentacion del mes siguiente.</a:t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Cierre. Mantener siempre la misma frase para que la plantilla sea reconocible.</a:t>
            </a:r>
            <a:endParaRPr/>
          </a:p>
        </p:txBody>
      </p:sp>
      <p:sp>
        <p:nvSpPr>
          <p:cNvPr id="225" name="Google Shape;22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640080" y="2148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6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26A2E"/>
                </a:solidFill>
                <a:latin typeface="Calibri"/>
                <a:ea typeface="Calibri"/>
                <a:cs typeface="Calibri"/>
                <a:sym typeface="Calibri"/>
              </a:rPr>
              <a:t>LA NORMA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640080" y="269748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Reunión de Seguimiento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640080" y="3657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E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B9BCBE"/>
                </a:solidFill>
                <a:latin typeface="Calibri"/>
                <a:ea typeface="Calibri"/>
                <a:cs typeface="Calibri"/>
                <a:sym typeface="Calibri"/>
              </a:rPr>
              <a:t>Dirección · Producción · Comercial · Postventa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3"/>
          <p:cNvCxnSpPr/>
          <p:nvPr/>
        </p:nvCxnSpPr>
        <p:spPr>
          <a:xfrm>
            <a:off x="640080" y="429768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B26A2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 txBox="1"/>
          <p:nvPr/>
        </p:nvSpPr>
        <p:spPr>
          <a:xfrm>
            <a:off x="640080" y="45262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 de referencia · Mes AAAA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Pol. Ind. C. Garbí 1, Palma de Gandia · Valencia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Orden del día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Seis bloques fijos. Cada reunión sigue el mismo guion.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640080" y="1600200"/>
            <a:ext cx="384048" cy="384048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40080" y="16002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1207008" y="156362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Los números del 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 txBox="1"/>
          <p:nvPr/>
        </p:nvSpPr>
        <p:spPr>
          <a:xfrm>
            <a:off x="1207008" y="1837944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Ventas, producción, caja y postventa en una sola vista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640080" y="2350008"/>
            <a:ext cx="384048" cy="384048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/>
        </p:nvSpPr>
        <p:spPr>
          <a:xfrm>
            <a:off x="640080" y="23500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1207008" y="2313432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Ventas y pipeline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1207008" y="2587752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Qué se cerró, qué está abierto y qué se perdió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3099816"/>
            <a:ext cx="384048" cy="384048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 txBox="1"/>
          <p:nvPr/>
        </p:nvSpPr>
        <p:spPr>
          <a:xfrm>
            <a:off x="640080" y="30998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/>
          <p:nvPr/>
        </p:nvSpPr>
        <p:spPr>
          <a:xfrm>
            <a:off x="1207008" y="3063240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Producción y taller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 txBox="1"/>
          <p:nvPr/>
        </p:nvSpPr>
        <p:spPr>
          <a:xfrm>
            <a:off x="1207008" y="3337560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Unidades montadas, tiempos y cuellos de botella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40080" y="3849624"/>
            <a:ext cx="384048" cy="384048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 txBox="1"/>
          <p:nvPr/>
        </p:nvSpPr>
        <p:spPr>
          <a:xfrm>
            <a:off x="640080" y="38496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 txBox="1"/>
          <p:nvPr/>
        </p:nvSpPr>
        <p:spPr>
          <a:xfrm>
            <a:off x="1207008" y="381304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Postventa e incidencias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 txBox="1"/>
          <p:nvPr/>
        </p:nvSpPr>
        <p:spPr>
          <a:xfrm>
            <a:off x="1207008" y="408736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Averías, garantías y tiempo de respuesta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640080" y="4599432"/>
            <a:ext cx="384048" cy="384048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 txBox="1"/>
          <p:nvPr/>
        </p:nvSpPr>
        <p:spPr>
          <a:xfrm>
            <a:off x="640080" y="45994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 txBox="1"/>
          <p:nvPr/>
        </p:nvSpPr>
        <p:spPr>
          <a:xfrm>
            <a:off x="1207008" y="4562856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Marketing y canal digital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 txBox="1"/>
          <p:nvPr/>
        </p:nvSpPr>
        <p:spPr>
          <a:xfrm>
            <a:off x="1207008" y="4837176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Leads generados y coste por lead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5349240"/>
            <a:ext cx="384048" cy="384048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640080" y="5349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 txBox="1"/>
          <p:nvPr/>
        </p:nvSpPr>
        <p:spPr>
          <a:xfrm>
            <a:off x="1207008" y="5312664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Decisiones y responsables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 txBox="1"/>
          <p:nvPr/>
        </p:nvSpPr>
        <p:spPr>
          <a:xfrm>
            <a:off x="1207008" y="5586984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Qué se decide hoy, quién lo hace y para cuándo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503920" y="1600200"/>
            <a:ext cx="3017520" cy="3749040"/>
          </a:xfrm>
          <a:prstGeom prst="roundRect">
            <a:avLst>
              <a:gd fmla="val 2424" name="adj"/>
            </a:avLst>
          </a:prstGeom>
          <a:solidFill>
            <a:srgbClr val="EF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8778240" y="18745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Regla de oro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8778240" y="2286000"/>
            <a:ext cx="251460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Ningún bloque pasa de 10 minutos.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Todo dato viene de una sola hoja fuente.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Toda decisión sale con nombre y fecha.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Lo que no se mide, no entra en la reunión.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Los números del mes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Ejemplo de relleno — sustituir por los datos reales del periodo.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640080" y="1600200"/>
            <a:ext cx="2606040" cy="1874520"/>
          </a:xfrm>
          <a:prstGeom prst="roundRect">
            <a:avLst>
              <a:gd fmla="val 390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896112" y="17830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Facturación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896112" y="2084832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148.200 €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896112" y="29260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7D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F7D52"/>
                </a:solidFill>
                <a:latin typeface="Calibri"/>
                <a:ea typeface="Calibri"/>
                <a:cs typeface="Calibri"/>
                <a:sym typeface="Calibri"/>
              </a:rPr>
              <a:t>+12% vs mes anterior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3429000" y="1600200"/>
            <a:ext cx="2606040" cy="1874520"/>
          </a:xfrm>
          <a:prstGeom prst="roundRect">
            <a:avLst>
              <a:gd fmla="val 390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 txBox="1"/>
          <p:nvPr/>
        </p:nvSpPr>
        <p:spPr>
          <a:xfrm>
            <a:off x="3685032" y="17830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Máquinas entregadas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3685032" y="2084832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19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3685032" y="29260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33A31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A33A31"/>
                </a:solidFill>
                <a:latin typeface="Calibri"/>
                <a:ea typeface="Calibri"/>
                <a:cs typeface="Calibri"/>
                <a:sym typeface="Calibri"/>
              </a:rPr>
              <a:t>Objetivo del mes: 22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217920" y="1600200"/>
            <a:ext cx="2606040" cy="1874520"/>
          </a:xfrm>
          <a:prstGeom prst="roundRect">
            <a:avLst>
              <a:gd fmla="val 390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 txBox="1"/>
          <p:nvPr/>
        </p:nvSpPr>
        <p:spPr>
          <a:xfrm>
            <a:off x="6473952" y="17830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Pedidos en cartera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6473952" y="2084832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31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6473952" y="29260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Equivale a 7 semanas de taller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006840" y="1600200"/>
            <a:ext cx="2606040" cy="1874520"/>
          </a:xfrm>
          <a:prstGeom prst="roundRect">
            <a:avLst>
              <a:gd fmla="val 3902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 txBox="1"/>
          <p:nvPr/>
        </p:nvSpPr>
        <p:spPr>
          <a:xfrm>
            <a:off x="9262872" y="178308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Incidencias abiertas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9262872" y="2084832"/>
            <a:ext cx="2194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 txBox="1"/>
          <p:nvPr/>
        </p:nvSpPr>
        <p:spPr>
          <a:xfrm>
            <a:off x="9262872" y="2926080"/>
            <a:ext cx="21945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7D5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F7D52"/>
                </a:solidFill>
                <a:latin typeface="Calibri"/>
                <a:ea typeface="Calibri"/>
                <a:cs typeface="Calibri"/>
                <a:sym typeface="Calibri"/>
              </a:rPr>
              <a:t>-2 respecto al mes anterior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640080" y="384048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Lectura del mes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 txBox="1"/>
          <p:nvPr/>
        </p:nvSpPr>
        <p:spPr>
          <a:xfrm>
            <a:off x="640080" y="4224528"/>
            <a:ext cx="108813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Tres frases como máximo: qué pasó, por qué y qué hacemos.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E2E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Si un número se sale de objetivo, aquí se nombra la causa — no en el debate.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E2E2E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Nunca presentar un dato sin la comparación contra el mes anterior y contra el objetivo.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5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Evolución de la facturación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Doce meses móviles · datos de 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554480"/>
            <a:ext cx="749808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6"/>
          <p:cNvSpPr/>
          <p:nvPr/>
        </p:nvSpPr>
        <p:spPr>
          <a:xfrm>
            <a:off x="8503920" y="1554480"/>
            <a:ext cx="3017520" cy="3931920"/>
          </a:xfrm>
          <a:prstGeom prst="roundRect">
            <a:avLst>
              <a:gd fmla="val 2424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8778240" y="181051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Qué mirar aquí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8778240" y="2212848"/>
            <a:ext cx="25603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La tendencia, no el mes suelto.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La caída de agosto es estacional: se compara con el agosto anterior, nunca con julio.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Si dos meses seguidos caen fuera de tendencia, se abre un punto propio en la reunión.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Ventas por gama y por canal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Dónde está saliendo el volumen · datos de 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640080" y="15361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Por gama de producto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874520"/>
            <a:ext cx="53035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7"/>
          <p:cNvSpPr txBox="1"/>
          <p:nvPr/>
        </p:nvSpPr>
        <p:spPr>
          <a:xfrm>
            <a:off x="6400800" y="153619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Por canal de venta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360" y="1874520"/>
            <a:ext cx="530352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 txBox="1"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Pregunta obligatoria de este bloque: ¿qué canal está creciendo por sí solo y cuál solo crece cuando empujamos?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8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Pipeline comercial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Estado de las oportunidades abiertas · datos de 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8"/>
          <p:cNvGraphicFramePr/>
          <p:nvPr/>
        </p:nvGraphicFramePr>
        <p:xfrm>
          <a:off x="64008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{AC6FCE17-31AE-4026-AD89-DFBC01C194A8}</a:tableStyleId>
              </a:tblPr>
              <a:tblGrid>
                <a:gridCol w="3017525"/>
                <a:gridCol w="2011675"/>
                <a:gridCol w="2194550"/>
                <a:gridCol w="2377450"/>
                <a:gridCol w="1280150"/>
              </a:tblGrid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Etapa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Oportunidades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Valor estimado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Cierre previsto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Contacto inicial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82.000 €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Trimestre en curso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Comercial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Demostración realizada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61.500 €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Próximas 4 semanas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Comercial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Presupuesto enviado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44.000 €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Próximas 2 semanas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Negociación final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27.800 €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 semana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</a:tr>
              <a:tr h="475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3A3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A33A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Pérdidas este mes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3A3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A33A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3A3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A33A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16.400 €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3A3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A33A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3A31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A33A3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Revisar causa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0" name="Google Shape;120;p8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Regla: una oportunidad sin fecha de cierre y sin responsable no cuenta como pipeline.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Producción y taller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Capacidad real frente a demanda · datos de 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640080" y="1600200"/>
            <a:ext cx="2377440" cy="1554480"/>
          </a:xfrm>
          <a:prstGeom prst="roundRect">
            <a:avLst>
              <a:gd fmla="val 4706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 txBox="1"/>
          <p:nvPr/>
        </p:nvSpPr>
        <p:spPr>
          <a:xfrm>
            <a:off x="868680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Montadas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 txBox="1"/>
          <p:nvPr/>
        </p:nvSpPr>
        <p:spPr>
          <a:xfrm>
            <a:off x="868680" y="20116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19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 txBox="1"/>
          <p:nvPr/>
        </p:nvSpPr>
        <p:spPr>
          <a:xfrm>
            <a:off x="868680" y="2724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unidades en el mes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3200400" y="1600200"/>
            <a:ext cx="2377440" cy="1554480"/>
          </a:xfrm>
          <a:prstGeom prst="roundRect">
            <a:avLst>
              <a:gd fmla="val 4706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9"/>
          <p:cNvSpPr txBox="1"/>
          <p:nvPr/>
        </p:nvSpPr>
        <p:spPr>
          <a:xfrm>
            <a:off x="3429000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Días/unidad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3429000" y="20116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2,4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 txBox="1"/>
          <p:nvPr/>
        </p:nvSpPr>
        <p:spPr>
          <a:xfrm>
            <a:off x="3429000" y="2724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media de montaje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5760720" y="1600200"/>
            <a:ext cx="2377440" cy="1554480"/>
          </a:xfrm>
          <a:prstGeom prst="roundRect">
            <a:avLst>
              <a:gd fmla="val 4706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 txBox="1"/>
          <p:nvPr/>
        </p:nvSpPr>
        <p:spPr>
          <a:xfrm>
            <a:off x="5989320" y="17556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Ocupación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5989320" y="20116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87%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5989320" y="27249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del taller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640080" y="3429000"/>
            <a:ext cx="7315200" cy="2103120"/>
          </a:xfrm>
          <a:prstGeom prst="roundRect">
            <a:avLst>
              <a:gd fmla="val 3478" name="adj"/>
            </a:avLst>
          </a:prstGeom>
          <a:solidFill>
            <a:srgbClr val="EF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 txBox="1"/>
          <p:nvPr/>
        </p:nvSpPr>
        <p:spPr>
          <a:xfrm>
            <a:off x="914400" y="363931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Cuellos de botella del 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914400" y="4023360"/>
            <a:ext cx="67665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Rotura de stock de un componente crítico — indicar cuál y cuántos días paró.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Retraso de proveedor — indicar proveedor y plazo real frente al comprometido.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Retrabajo por defecto detectado en prueba — indicar unidades afectadas.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229600" y="3429000"/>
            <a:ext cx="3291840" cy="2103120"/>
          </a:xfrm>
          <a:prstGeom prst="roundRect">
            <a:avLst>
              <a:gd fmla="val 3478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8503920" y="36393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Decisión pendiente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8503920" y="40233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Con 87% de ocupación y 31 pedidos en cartera, ¿se amplía turno, se contrata o se alarga el plazo de entrega?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Postventa e incidencias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El servicio es parte del producto · datos de 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0"/>
          <p:cNvSpPr/>
          <p:nvPr/>
        </p:nvSpPr>
        <p:spPr>
          <a:xfrm>
            <a:off x="640080" y="1645920"/>
            <a:ext cx="5303520" cy="1737360"/>
          </a:xfrm>
          <a:prstGeom prst="roundRect">
            <a:avLst>
              <a:gd fmla="val 4211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/>
          <p:nvPr/>
        </p:nvSpPr>
        <p:spPr>
          <a:xfrm>
            <a:off x="914400" y="1920240"/>
            <a:ext cx="347472" cy="347472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914400" y="19202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1371600" y="190195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Incidencias abiertas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 txBox="1"/>
          <p:nvPr/>
        </p:nvSpPr>
        <p:spPr>
          <a:xfrm>
            <a:off x="1371600" y="219456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1371600" y="274320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Dos en garantía, dos fuera de garantía.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/>
          <p:nvPr/>
        </p:nvSpPr>
        <p:spPr>
          <a:xfrm>
            <a:off x="6217920" y="1645920"/>
            <a:ext cx="5303520" cy="1737360"/>
          </a:xfrm>
          <a:prstGeom prst="roundRect">
            <a:avLst>
              <a:gd fmla="val 4211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0"/>
          <p:cNvSpPr/>
          <p:nvPr/>
        </p:nvSpPr>
        <p:spPr>
          <a:xfrm>
            <a:off x="6492240" y="1920240"/>
            <a:ext cx="347472" cy="347472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6492240" y="192024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6949440" y="190195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Tiempo medio de respuesta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 txBox="1"/>
          <p:nvPr/>
        </p:nvSpPr>
        <p:spPr>
          <a:xfrm>
            <a:off x="6949440" y="219456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26 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6949440" y="274320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Objetivo interno: menos de 24 h.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40080" y="3611880"/>
            <a:ext cx="5303520" cy="1737360"/>
          </a:xfrm>
          <a:prstGeom prst="roundRect">
            <a:avLst>
              <a:gd fmla="val 4211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914400" y="3886200"/>
            <a:ext cx="347472" cy="347472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914400" y="38862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1371600" y="38679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Piezas más sustituidas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1371600" y="416052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3 refs.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1371600" y="470916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Si una pieza se repite, es un problema de diseño, no de uso.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6217920" y="3611880"/>
            <a:ext cx="5303520" cy="1737360"/>
          </a:xfrm>
          <a:prstGeom prst="roundRect">
            <a:avLst>
              <a:gd fmla="val 4211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6492240" y="3886200"/>
            <a:ext cx="347472" cy="347472"/>
          </a:xfrm>
          <a:prstGeom prst="ellipse">
            <a:avLst/>
          </a:prstGeom>
          <a:solidFill>
            <a:srgbClr val="B26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6492240" y="38862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6949440" y="386791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Clientes que han pedido reseña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 txBox="1"/>
          <p:nvPr/>
        </p:nvSpPr>
        <p:spPr>
          <a:xfrm>
            <a:off x="6949440" y="4160520"/>
            <a:ext cx="4297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 txBox="1"/>
          <p:nvPr/>
        </p:nvSpPr>
        <p:spPr>
          <a:xfrm>
            <a:off x="6949440" y="4709160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Cada incidencia bien resuelta es una reseña que no estamos pidiendo.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Canal digital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Lo que entra por web y redes · datos de 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11"/>
          <p:cNvGraphicFramePr/>
          <p:nvPr/>
        </p:nvGraphicFramePr>
        <p:xfrm>
          <a:off x="64008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{AC6FCE17-31AE-4026-AD89-DFBC01C194A8}</a:tableStyleId>
              </a:tblPr>
              <a:tblGrid>
                <a:gridCol w="3017525"/>
                <a:gridCol w="1463050"/>
                <a:gridCol w="1463050"/>
                <a:gridCol w="14630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Indicador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 actual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Mes anterior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Visitas a la web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1.240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1.090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2.000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Solicitudes de información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Coste por solicitud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menos de 20 €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Seguidores en LinkedIn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500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Reseñas en Google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11"/>
          <p:cNvSpPr/>
          <p:nvPr/>
        </p:nvSpPr>
        <p:spPr>
          <a:xfrm>
            <a:off x="8503920" y="1627632"/>
            <a:ext cx="3017520" cy="3200400"/>
          </a:xfrm>
          <a:prstGeom prst="roundRect">
            <a:avLst>
              <a:gd fmla="val 2424" name="adj"/>
            </a:avLst>
          </a:prstGeom>
          <a:solidFill>
            <a:srgbClr val="EF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8778240" y="18745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El hueco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 txBox="1"/>
          <p:nvPr/>
        </p:nvSpPr>
        <p:spPr>
          <a:xfrm>
            <a:off x="8778240" y="2267712"/>
            <a:ext cx="25603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Vendemos a hostelería y a distribuidores — negocio entre empresas. El canal donde están esos compradores es LinkedIn, y es justo donde tenemos menos presencia de todo el sector.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Un indicador que no se mueve dos meses seguidos no es un indicador: es una tarea que nadie ha hecho.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Objetivo frente a resultado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única diapositiva incómoda de la reunión · datos de ejemplo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600200"/>
            <a:ext cx="7498080" cy="365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/>
          <p:nvPr/>
        </p:nvSpPr>
        <p:spPr>
          <a:xfrm>
            <a:off x="8503920" y="1600200"/>
            <a:ext cx="3017520" cy="3657600"/>
          </a:xfrm>
          <a:prstGeom prst="roundRect">
            <a:avLst>
              <a:gd fmla="val 2424" name="adj"/>
            </a:avLst>
          </a:prstGeom>
          <a:solidFill>
            <a:srgbClr val="F4F3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8778240" y="18470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41414"/>
                </a:solidFill>
                <a:latin typeface="Calibri"/>
                <a:ea typeface="Calibri"/>
                <a:cs typeface="Calibri"/>
                <a:sym typeface="Calibri"/>
              </a:rPr>
              <a:t>Cómo se usa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8778240" y="2240280"/>
            <a:ext cx="256032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Se fijan los objetivos al inicio del periodo, no al final.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Una desviación no se justifica: se explica y se convierte en decisión.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E2E2E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Si un objetivo se cumple tres veces seguidas con holgura, estaba mal puesto.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3800"/>
              <a:buFont typeface="Cambria"/>
              <a:buNone/>
            </a:pPr>
            <a:r>
              <a:rPr b="1" i="0" lang="en-US" sz="3800" u="none" cap="none" strike="noStrike">
                <a:solidFill>
                  <a:srgbClr val="141414"/>
                </a:solidFill>
                <a:latin typeface="Cambria"/>
                <a:ea typeface="Cambria"/>
                <a:cs typeface="Cambria"/>
                <a:sym typeface="Cambria"/>
              </a:rPr>
              <a:t>Decisiones y responsables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640080" y="1024128"/>
            <a:ext cx="10881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Nada sale de esta reunión sin nombre y sin fecha.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13"/>
          <p:cNvGraphicFramePr/>
          <p:nvPr/>
        </p:nvGraphicFramePr>
        <p:xfrm>
          <a:off x="640080" y="16276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{AC6FCE17-31AE-4026-AD89-DFBC01C194A8}</a:tableStyleId>
              </a:tblPr>
              <a:tblGrid>
                <a:gridCol w="5303525"/>
                <a:gridCol w="2011675"/>
                <a:gridCol w="1828800"/>
                <a:gridCol w="1737350"/>
              </a:tblGrid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Decisión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límite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414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Ejemplo: ampliar turno de taller dos semanas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Dirección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 / mes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Ejemplo: revisar causa de las dos ventas perdidas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Comercial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 / mes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 curso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Ejemplo: solicitar reseña a los últimos 20 clientes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Postventa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 / mes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Pendiente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2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Ejemplo: unificar las dos páginas de LinkedIn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 / mes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4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4141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Hecho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09725" marB="109725" marR="109725" marL="109725" anchor="ctr">
                    <a:lnL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E3E1D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3F1"/>
                    </a:solidFill>
                  </a:tcPr>
                </a:tc>
              </a:tr>
            </a:tbl>
          </a:graphicData>
        </a:graphic>
      </p:graphicFrame>
      <p:sp>
        <p:nvSpPr>
          <p:cNvPr id="218" name="Google Shape;218;p13"/>
          <p:cNvSpPr/>
          <p:nvPr/>
        </p:nvSpPr>
        <p:spPr>
          <a:xfrm>
            <a:off x="640080" y="4251960"/>
            <a:ext cx="10881360" cy="1143000"/>
          </a:xfrm>
          <a:prstGeom prst="roundRect">
            <a:avLst>
              <a:gd fmla="val 6400" name="adj"/>
            </a:avLst>
          </a:prstGeom>
          <a:solidFill>
            <a:srgbClr val="EFE0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3"/>
          <p:cNvSpPr txBox="1"/>
          <p:nvPr/>
        </p:nvSpPr>
        <p:spPr>
          <a:xfrm>
            <a:off x="960120" y="452628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2E2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E2E2E"/>
                </a:solidFill>
                <a:latin typeface="Calibri"/>
                <a:ea typeface="Calibri"/>
                <a:cs typeface="Calibri"/>
                <a:sym typeface="Calibri"/>
              </a:rPr>
              <a:t>Esta diapositiva abre la reunión siguiente. Antes de mirar los números del mes nuevo, se revisa una por una: hecho, no hecho o ya no aplica.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 txBox="1"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La Norma · Reunión de seguimiento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 txBox="1"/>
          <p:nvPr/>
        </p:nvSpPr>
        <p:spPr>
          <a:xfrm>
            <a:off x="10607040" y="63550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47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478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"/>
          <p:cNvSpPr txBox="1"/>
          <p:nvPr/>
        </p:nvSpPr>
        <p:spPr>
          <a:xfrm>
            <a:off x="640080" y="2468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26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B26A2E"/>
                </a:solidFill>
                <a:latin typeface="Calibri"/>
                <a:ea typeface="Calibri"/>
                <a:cs typeface="Calibri"/>
                <a:sym typeface="Calibri"/>
              </a:rPr>
              <a:t>LA NORMA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640080" y="297180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Fabricamos menos, pero mejor.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4"/>
          <p:cNvSpPr txBox="1"/>
          <p:nvPr/>
        </p:nvSpPr>
        <p:spPr>
          <a:xfrm>
            <a:off x="640080" y="397764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9BCB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9BCBE"/>
                </a:solidFill>
                <a:latin typeface="Calibri"/>
                <a:ea typeface="Calibri"/>
                <a:cs typeface="Calibri"/>
                <a:sym typeface="Calibri"/>
              </a:rPr>
              <a:t>lanorma.es · info@lanorma.es · +34 960 64 00 72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