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F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display.jpg"/>
          <p:cNvPicPr>
            <a:picLocks noChangeAspect="1"/>
          </p:cNvPicPr>
          <p:nvPr/>
        </p:nvPicPr>
        <p:blipFill>
          <a:blip r:embed="rId2"/>
          <a:srcRect l="20113" r="6704"/>
          <a:stretch>
            <a:fillRect/>
          </a:stretch>
        </p:blipFill>
        <p:spPr>
          <a:xfrm>
            <a:off x="4663440" y="0"/>
            <a:ext cx="75282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663440" y="0"/>
            <a:ext cx="7528255" cy="6858000"/>
          </a:xfrm>
          <a:prstGeom prst="rect">
            <a:avLst/>
          </a:prstGeom>
          <a:solidFill>
            <a:srgbClr val="170F0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170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39935" y="429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60">
                <a:solidFill>
                  <a:srgbClr val="B7A489"/>
                </a:solidFill>
                <a:latin typeface="Courier New"/>
              </a:rPr>
              <a:t>01 / 05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841248"/>
            <a:ext cx="10545775" cy="10972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lanorma-cr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190112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6974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B8843C"/>
                </a:solidFill>
                <a:latin typeface="Arial"/>
              </a:rPr>
              <a:t>PROPUESTA INTERNA · SEPTIEMBRE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3ECDD"/>
                </a:solidFill>
                <a:latin typeface="Georgia"/>
              </a:rPr>
              <a:t>Puedo acelerar la web para que venda al ritmo del taller.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37490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B7A489"/>
                </a:solidFill>
                <a:latin typeface="Arial"/>
              </a:rPr>
              <a:t>Una propuesta directa para resolver el principal cuello de botella digital de La Norma hoy — hecha por quien monta las máquinas desde dentro.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053328"/>
            <a:ext cx="10545775" cy="10972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199632"/>
            <a:ext cx="65383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>
                <a:solidFill>
                  <a:srgbClr val="B7A489"/>
                </a:solidFill>
                <a:latin typeface="Arial"/>
              </a:rPr>
              <a:t> </a:t>
            </a:r>
            <a:r>
              <a:rPr sz="1050" b="1">
                <a:solidFill>
                  <a:srgbClr val="F3ECDD"/>
                </a:solidFill>
                <a:latin typeface="Arial"/>
              </a:rPr>
              <a:t>Diogo Torres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6735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 spc="30">
                <a:solidFill>
                  <a:srgbClr val="B7A489"/>
                </a:solidFill>
                <a:latin typeface="Courier New"/>
              </a:rPr>
              <a:t>Palma de Gandia, Valencia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B7A489"/>
                </a:solidFill>
                <a:latin typeface="Arial"/>
              </a:rPr>
              <a:t>Montaje en taller &amp; desarrollo web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CD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an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"/>
            <a:ext cx="1199347" cy="2103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39935" y="429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60">
                <a:solidFill>
                  <a:srgbClr val="6B5B45"/>
                </a:solidFill>
                <a:latin typeface="Courier New"/>
              </a:rPr>
              <a:t>02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41248"/>
            <a:ext cx="10545775" cy="10972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B5B45"/>
                </a:solidFill>
                <a:latin typeface="Arial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7863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241C15"/>
                </a:solidFill>
                <a:latin typeface="Georgia"/>
              </a:rPr>
              <a:t>La máquina es excelente en la barra. La web frena en el móvil.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B5B45"/>
                </a:solidFill>
                <a:latin typeface="Arial"/>
              </a:rPr>
              <a:t>Comprobado con las herramientas oficiales de auditoría. La mayoría de hosteleros y distribuidores entra desde el teléfono.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10545775" cy="10972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3058058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>
                <a:solidFill>
                  <a:srgbClr val="A8392F"/>
                </a:solidFill>
                <a:latin typeface="Courier New"/>
              </a:rPr>
              <a:t>35</a:t>
            </a:r>
            <a:r>
              <a:rPr sz="1600">
                <a:solidFill>
                  <a:srgbClr val="6B5B45"/>
                </a:solidFill>
                <a:latin typeface="Courier New"/>
              </a:rPr>
              <a:t>/100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0916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40">
                <a:solidFill>
                  <a:srgbClr val="6B5B45"/>
                </a:solidFill>
                <a:latin typeface="Arial"/>
              </a:rPr>
              <a:t>PAGESPEED EN MÓVIL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305805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B5B45"/>
                </a:solidFill>
                <a:latin typeface="Arial"/>
              </a:rPr>
              <a:t>64 sobre 100 en ordenador. El catálogo tarda demasiado en mostrar fotos y vídeos sin comprimir.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9074" y="3858768"/>
            <a:ext cx="10972" cy="1783080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14800"/>
            <a:ext cx="3058058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>
                <a:solidFill>
                  <a:srgbClr val="241C15"/>
                </a:solidFill>
                <a:latin typeface="Courier New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70916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40">
                <a:solidFill>
                  <a:srgbClr val="6B5B45"/>
                </a:solidFill>
                <a:latin typeface="Arial"/>
              </a:rPr>
              <a:t>FORMULARIOS DE CONTACTO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4250" y="5029200"/>
            <a:ext cx="305805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B5B45"/>
                </a:solidFill>
                <a:latin typeface="Arial"/>
              </a:rPr>
              <a:t>Quien quiere cotizar tiene que buscar el teléfono o abrir su propio correo. Cada clic extra enfría la venta.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44332" y="3858768"/>
            <a:ext cx="10972" cy="1783080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9508" y="4114800"/>
            <a:ext cx="3058058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200">
                <a:solidFill>
                  <a:srgbClr val="A8392F"/>
                </a:solidFill>
                <a:latin typeface="Courier New"/>
              </a:rPr>
              <a:t>4,1</a:t>
            </a:r>
            <a:r>
              <a:rPr sz="1600">
                <a:solidFill>
                  <a:srgbClr val="6B5B45"/>
                </a:solidFill>
                <a:latin typeface="Courier New"/>
              </a:rPr>
              <a:t>/5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9508" y="470916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40">
                <a:solidFill>
                  <a:srgbClr val="6B5B45"/>
                </a:solidFill>
                <a:latin typeface="Arial"/>
              </a:rPr>
              <a:t>GOOGLE BUSINESS · 8 RESEÑAS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9508" y="5029200"/>
            <a:ext cx="305805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B5B45"/>
                </a:solidFill>
                <a:latin typeface="Arial"/>
              </a:rPr>
              <a:t>La más reciente es de 1 estrella: pidió información y no tuvo respuesta clara ni rápida.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641848"/>
            <a:ext cx="10545775" cy="10972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6053328"/>
            <a:ext cx="10545775" cy="10972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199632"/>
            <a:ext cx="65383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>
                <a:solidFill>
                  <a:srgbClr val="6B5B45"/>
                </a:solidFill>
                <a:latin typeface="Arial"/>
              </a:rPr>
              <a:t>La Norma no tiene un problema de producto. </a:t>
            </a:r>
            <a:r>
              <a:rPr sz="1050" b="1">
                <a:solidFill>
                  <a:srgbClr val="241C15"/>
                </a:solidFill>
                <a:latin typeface="Arial"/>
              </a:rPr>
              <a:t>Tiene un problema de fricción en la entrada.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6735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 spc="30">
                <a:solidFill>
                  <a:srgbClr val="6B5B45"/>
                </a:solidFill>
                <a:latin typeface="Courier New"/>
              </a:rPr>
              <a:t>Fuente: PageSpeed Insights y Google Maps · sept.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F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anorma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"/>
            <a:ext cx="1199347" cy="2103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39935" y="429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60">
                <a:solidFill>
                  <a:srgbClr val="B7A489"/>
                </a:solidFill>
                <a:latin typeface="Courier New"/>
              </a:rPr>
              <a:t>03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41248"/>
            <a:ext cx="10545775" cy="10972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B8843C"/>
                </a:solidFill>
                <a:latin typeface="Arial"/>
              </a:rPr>
              <a:t>PRUEBA 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7680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3ECDD"/>
                </a:solidFill>
                <a:latin typeface="Georgia"/>
              </a:rPr>
              <a:t>De 35 a 99 sobre 100. Sé exactamente cómo se hace.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B7A489"/>
                </a:solidFill>
                <a:latin typeface="Arial"/>
              </a:rPr>
              <a:t>No es teoría de agencia: son dos sitios que ya existen y se pueden abrir en directo, ahora mismo, en este portátil.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30752"/>
            <a:ext cx="4907127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49071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HOY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24528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3ECDD"/>
                </a:solidFill>
                <a:latin typeface="Georgia"/>
              </a:rPr>
              <a:t>lanorma.es — WordPress con sobrecarga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00600"/>
            <a:ext cx="30424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7A489"/>
                </a:solidFill>
                <a:latin typeface="Arial"/>
              </a:rPr>
              <a:t>Rendimiento móvil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6523" y="4800600"/>
            <a:ext cx="24535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E08074"/>
                </a:solidFill>
                <a:latin typeface="Courier New"/>
              </a:rPr>
              <a:t>35 / 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074920"/>
            <a:ext cx="4907127" cy="7315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148072"/>
            <a:ext cx="30424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7A489"/>
                </a:solidFill>
                <a:latin typeface="Arial"/>
              </a:rPr>
              <a:t>Rendimiento ordenador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6523" y="5148072"/>
            <a:ext cx="24535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E08074"/>
                </a:solidFill>
                <a:latin typeface="Courier New"/>
              </a:rPr>
              <a:t>64 / 100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22392"/>
            <a:ext cx="4907127" cy="7315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495544"/>
            <a:ext cx="30424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7A489"/>
                </a:solidFill>
                <a:latin typeface="Arial"/>
              </a:rPr>
              <a:t>Carga del catálogo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523" y="5495544"/>
            <a:ext cx="24535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E08074"/>
                </a:solidFill>
                <a:latin typeface="Courier New"/>
              </a:rPr>
              <a:t>lenta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769864"/>
            <a:ext cx="4907127" cy="7315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61607" y="3730752"/>
            <a:ext cx="4907127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1607" y="3931920"/>
            <a:ext cx="49071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HECHO POR MÍ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607" y="4224528"/>
            <a:ext cx="4907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3ECDD"/>
                </a:solidFill>
                <a:latin typeface="Georgia"/>
              </a:rPr>
              <a:t>oliveirafotos.es y el prototipo Ln 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1607" y="4800600"/>
            <a:ext cx="30424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7A489"/>
                </a:solidFill>
                <a:latin typeface="Arial"/>
              </a:rPr>
              <a:t>Rendimiento móvil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171" y="4800600"/>
            <a:ext cx="24535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E4C48C"/>
                </a:solidFill>
                <a:latin typeface="Courier New"/>
              </a:rPr>
              <a:t>99 /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1607" y="5074920"/>
            <a:ext cx="4907127" cy="7315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1607" y="5148072"/>
            <a:ext cx="30424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7A489"/>
                </a:solidFill>
                <a:latin typeface="Arial"/>
              </a:rPr>
              <a:t>Rendimiento ordenador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171" y="5148072"/>
            <a:ext cx="24535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E4C48C"/>
                </a:solidFill>
                <a:latin typeface="Courier New"/>
              </a:rPr>
              <a:t>100 /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1607" y="5422392"/>
            <a:ext cx="4907127" cy="7315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5495544"/>
            <a:ext cx="30424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7A489"/>
                </a:solidFill>
                <a:latin typeface="Arial"/>
              </a:rPr>
              <a:t>Carga en teléfono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171" y="5495544"/>
            <a:ext cx="24535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E4C48C"/>
                </a:solidFill>
                <a:latin typeface="Courier New"/>
              </a:rPr>
              <a:t>&lt; 0,6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1607" y="5769864"/>
            <a:ext cx="4907127" cy="7315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394960"/>
            <a:ext cx="78038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F3ECDD"/>
                </a:solidFill>
                <a:latin typeface="Georgia"/>
              </a:rPr>
              <a:t>Una agencia externa cobraría entre 2.500 € y 4.000 €, y tardaría dos meses solo en entender qué máquina vendemos y qué componentes lleva.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6053328"/>
            <a:ext cx="10545775" cy="10972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6199632"/>
            <a:ext cx="65383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>
                <a:solidFill>
                  <a:srgbClr val="B7A489"/>
                </a:solidFill>
                <a:latin typeface="Arial"/>
              </a:rPr>
              <a:t>Prueba en vivo: </a:t>
            </a:r>
            <a:r>
              <a:rPr sz="1050" b="1">
                <a:solidFill>
                  <a:srgbClr val="F3ECDD"/>
                </a:solidFill>
                <a:latin typeface="Arial"/>
              </a:rPr>
              <a:t>podemos abrir la comparativa en el navegador cuando quieras.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96735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 spc="30">
                <a:solidFill>
                  <a:srgbClr val="B7A489"/>
                </a:solidFill>
                <a:latin typeface="Courier New"/>
              </a:rPr>
              <a:t>Google Lighthouse · Core Web Vitals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D9B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an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"/>
            <a:ext cx="1199347" cy="2103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39935" y="429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60">
                <a:solidFill>
                  <a:srgbClr val="6B5B45"/>
                </a:solidFill>
                <a:latin typeface="Courier New"/>
              </a:rPr>
              <a:t>04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41248"/>
            <a:ext cx="10545775" cy="10972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6B5B45"/>
                </a:solidFill>
                <a:latin typeface="Arial"/>
              </a:rPr>
              <a:t>PROPUESTA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7315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241C15"/>
                </a:solidFill>
                <a:latin typeface="Georgia"/>
              </a:rPr>
              <a:t>Dejar la web impecable y lista para vender.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B5B45"/>
                </a:solidFill>
                <a:latin typeface="Arial"/>
              </a:rPr>
              <a:t>Un trabajo quirúrgico y directo, empezando por lo que genera impacto inmediato en la venta.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11880"/>
            <a:ext cx="3240938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813048"/>
            <a:ext cx="324093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23944"/>
            <a:ext cx="324093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241C15"/>
                </a:solidFill>
                <a:latin typeface="Georgia"/>
              </a:rPr>
              <a:t>Aligerar el catálogo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90872"/>
            <a:ext cx="324093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6B5B45"/>
                </a:solidFill>
                <a:latin typeface="Arial"/>
              </a:rPr>
              <a:t>Que el cliente vea la gama Ln1 —Compacta, 2 y 3 grupos— y el lanzamiento Ln 200 sin esperar un solo segundo en el móvil.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75378" y="3611880"/>
            <a:ext cx="3240938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5378" y="3813048"/>
            <a:ext cx="324093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5378" y="4123944"/>
            <a:ext cx="324093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241C15"/>
                </a:solidFill>
                <a:latin typeface="Georgia"/>
              </a:rPr>
              <a:t>Canal directo al taller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5378" y="4690872"/>
            <a:ext cx="324093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6B5B45"/>
                </a:solidFill>
                <a:latin typeface="Arial"/>
              </a:rPr>
              <a:t>«Dinos cuántos cafés sirves al día y te decimos qué máquina necesitas.» Contacto en un clic, sin buscar el teléfono.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7796" y="3611880"/>
            <a:ext cx="3240938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7796" y="3813048"/>
            <a:ext cx="324093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796" y="4123944"/>
            <a:ext cx="324093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241C15"/>
                </a:solidFill>
                <a:latin typeface="Georgia"/>
              </a:rPr>
              <a:t>Ya estoy dentro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796" y="4690872"/>
            <a:ext cx="324093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6B5B45"/>
                </a:solidFill>
                <a:latin typeface="Arial"/>
              </a:rPr>
              <a:t>Monto las máquinas con mis propias manos. Sé qué es el grupo erogador, el PID y la caldera: cero tiempo de adaptación.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78038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41C15"/>
                </a:solidFill>
                <a:latin typeface="Georgia"/>
              </a:rPr>
              <a:t>Si una sola máquina se vende porque un distribuidor navegó cómodo en el móvil y dejó sus datos, la web queda amortizada varias veces.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053328"/>
            <a:ext cx="10545775" cy="10972"/>
          </a:xfrm>
          <a:prstGeom prst="rect">
            <a:avLst/>
          </a:prstGeom>
          <a:solidFill>
            <a:srgbClr val="D6C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199632"/>
            <a:ext cx="65383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>
                <a:solidFill>
                  <a:srgbClr val="6B5B45"/>
                </a:solidFill>
                <a:latin typeface="Arial"/>
              </a:rPr>
              <a:t>Ejecución rápida: </a:t>
            </a:r>
            <a:r>
              <a:rPr sz="1050" b="1">
                <a:solidFill>
                  <a:srgbClr val="241C15"/>
                </a:solidFill>
                <a:latin typeface="Arial"/>
              </a:rPr>
              <a:t>prototipo listo para integrar en días, sin interrumpir el taller.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6735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 spc="30">
                <a:solidFill>
                  <a:srgbClr val="6B5B45"/>
                </a:solidFill>
                <a:latin typeface="Courier New"/>
              </a:rPr>
              <a:t>Cero riesgo · retorno inmediato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F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lanorma-c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"/>
            <a:ext cx="1199347" cy="2103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539935" y="4297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 spc="60">
                <a:solidFill>
                  <a:srgbClr val="B7A489"/>
                </a:solidFill>
                <a:latin typeface="Courier New"/>
              </a:rPr>
              <a:t>05 / 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841248"/>
            <a:ext cx="10545775" cy="10972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200">
                <a:solidFill>
                  <a:srgbClr val="B8843C"/>
                </a:solidFill>
                <a:latin typeface="Arial"/>
              </a:rPr>
              <a:t>SIGUIENTE 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7680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 i="0">
                <a:solidFill>
                  <a:srgbClr val="F3ECDD"/>
                </a:solidFill>
                <a:latin typeface="Georgia"/>
              </a:rPr>
              <a:t>Primero la web. Después, lo que La Norma vaya necesitando.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3240938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18688"/>
            <a:ext cx="324093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PASO 1 · AHORA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9584"/>
            <a:ext cx="324093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F3ECDD"/>
                </a:solidFill>
                <a:latin typeface="Georgia"/>
              </a:rPr>
              <a:t>La web y el catálogo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96511"/>
            <a:ext cx="324093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B7A489"/>
                </a:solidFill>
                <a:latin typeface="Arial"/>
              </a:rPr>
              <a:t>Resolver la velocidad en móvil, publicar la ficha de la Ln 200 y abrir el canal de contacto para cotizaciones directas.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75378" y="3017520"/>
            <a:ext cx="3240938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378" y="3218688"/>
            <a:ext cx="324093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5378" y="3529584"/>
            <a:ext cx="324093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F3ECDD"/>
                </a:solidFill>
                <a:latin typeface="Georgia"/>
              </a:rPr>
              <a:t>Redes con cara y ojos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5378" y="4096511"/>
            <a:ext cx="324093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B7A489"/>
                </a:solidFill>
                <a:latin typeface="Arial"/>
              </a:rPr>
              <a:t>Alimentar LinkedIn e Instagram con el taller real: la ingeniería y el montaje que la competencia no puede enseñar.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7796" y="3017520"/>
            <a:ext cx="3240938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7796" y="3218688"/>
            <a:ext cx="324093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 spc="100">
                <a:solidFill>
                  <a:srgbClr val="B8843C"/>
                </a:solidFill>
                <a:latin typeface="Courier New"/>
              </a:rPr>
              <a:t>PASO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796" y="3529584"/>
            <a:ext cx="324093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F3ECDD"/>
                </a:solidFill>
                <a:latin typeface="Georgia"/>
              </a:rPr>
              <a:t>Seguimiento de ventas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796" y="4096511"/>
            <a:ext cx="324093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 i="0">
                <a:solidFill>
                  <a:srgbClr val="B7A489"/>
                </a:solidFill>
                <a:latin typeface="Arial"/>
              </a:rPr>
              <a:t>Que ningún presupuesto enviado se quede sin respuesta, y que los avisos no desborden la bandeja de entrada.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029200"/>
            <a:ext cx="10545775" cy="25603"/>
          </a:xfrm>
          <a:prstGeom prst="rect">
            <a:avLst/>
          </a:prstGeom>
          <a:solidFill>
            <a:srgbClr val="B88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578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3ECDD"/>
                </a:solidFill>
                <a:latin typeface="Georgia"/>
              </a:rPr>
              <a:t>Hablamos 10 minutos cuando te venga bien.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6928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B7A489"/>
                </a:solidFill>
                <a:latin typeface="Arial"/>
              </a:rPr>
              <a:t>Te enseño el prototipo en el móvil o en el portátil, en un descanso del taller.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8335" y="5285232"/>
            <a:ext cx="3200400" cy="475488"/>
          </a:xfrm>
          <a:prstGeom prst="rect">
            <a:avLst/>
          </a:prstGeom>
          <a:solidFill>
            <a:srgbClr val="170F0A"/>
          </a:solidFill>
          <a:ln w="12700">
            <a:solidFill>
              <a:srgbClr val="B88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8335" y="5440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 spc="40">
                <a:solidFill>
                  <a:srgbClr val="E4C48C"/>
                </a:solidFill>
                <a:latin typeface="Courier New"/>
              </a:rPr>
              <a:t>Diogo Torres · Taller de Valencia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053328"/>
            <a:ext cx="10545775" cy="10972"/>
          </a:xfrm>
          <a:prstGeom prst="rect">
            <a:avLst/>
          </a:prstGeom>
          <a:solidFill>
            <a:srgbClr val="3A2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199632"/>
            <a:ext cx="65383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>
                <a:solidFill>
                  <a:srgbClr val="B7A489"/>
                </a:solidFill>
                <a:latin typeface="Arial"/>
              </a:rPr>
              <a:t>Propuesta interna: </a:t>
            </a:r>
            <a:r>
              <a:rPr sz="1050" b="1">
                <a:solidFill>
                  <a:srgbClr val="F3ECDD"/>
                </a:solidFill>
                <a:latin typeface="Arial"/>
              </a:rPr>
              <a:t>hecha para sumar a La Norma.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6735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 i="0" spc="30">
                <a:solidFill>
                  <a:srgbClr val="B7A489"/>
                </a:solidFill>
                <a:latin typeface="Courier New"/>
              </a:rPr>
              <a:t>La Norma Coffee Machine Manufacturer S.L.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