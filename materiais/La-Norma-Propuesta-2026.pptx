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F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display.jpg"/>
          <p:cNvPicPr>
            <a:picLocks noChangeAspect="1"/>
          </p:cNvPicPr>
          <p:nvPr/>
        </p:nvPicPr>
        <p:blipFill>
          <a:blip r:embed="rId2"/>
          <a:srcRect l="20113" r="6704"/>
          <a:stretch>
            <a:fillRect/>
          </a:stretch>
        </p:blipFill>
        <p:spPr>
          <a:xfrm>
            <a:off x="4663440" y="0"/>
            <a:ext cx="75282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70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7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429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60">
                <a:solidFill>
                  <a:srgbClr val="B7A489"/>
                </a:solidFill>
                <a:latin typeface="Courier New"/>
              </a:rPr>
              <a:t>01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lanorma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219011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697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B8843C"/>
                </a:solidFill>
                <a:latin typeface="Arial"/>
              </a:rPr>
              <a:t>PROPUESTA INTERNA · SEPTIEMBRE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3ECDD"/>
                </a:solidFill>
                <a:latin typeface="Georgia"/>
              </a:rPr>
              <a:t>Puedo acelerar la web para que venda al ritmo del taller.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B7A489"/>
                </a:solidFill>
                <a:latin typeface="Arial"/>
              </a:rPr>
              <a:t>Una propuesta directa para resolver el principal cuello de botella digital de La Norma hoy — hecha por quien monta las máquinas desde dentro.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05332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199632"/>
            <a:ext cx="65383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B7A489"/>
                </a:solidFill>
                <a:latin typeface="Arial"/>
              </a:rPr>
              <a:t> </a:t>
            </a:r>
            <a:r>
              <a:rPr sz="1050" b="1">
                <a:solidFill>
                  <a:srgbClr val="F3ECDD"/>
                </a:solidFill>
                <a:latin typeface="Arial"/>
              </a:rPr>
              <a:t>Diogo Torres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6735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 spc="30">
                <a:solidFill>
                  <a:srgbClr val="B7A489"/>
                </a:solidFill>
                <a:latin typeface="Courier New"/>
              </a:rPr>
              <a:t>Palma de Gandia, Valencia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7A489"/>
                </a:solidFill>
                <a:latin typeface="Arial"/>
              </a:rPr>
              <a:t>Montaje en taller &amp; desarrollo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ano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"/>
            <a:ext cx="1199347" cy="210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39935" y="429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60">
                <a:solidFill>
                  <a:srgbClr val="6B5B45"/>
                </a:solidFill>
                <a:latin typeface="Courier New"/>
              </a:rPr>
              <a:t>02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B5B45"/>
                </a:solidFill>
                <a:latin typeface="Arial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241C15"/>
                </a:solidFill>
                <a:latin typeface="Georgia"/>
              </a:rPr>
              <a:t>La máquina es excelente en la barra. La web frena en el móvil.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5B45"/>
                </a:solidFill>
                <a:latin typeface="Arial"/>
              </a:rPr>
              <a:t>Comprobado con las herramientas oficiales de auditoría. La mayoría de hosteleros y distribuidores entra desde el teléfono.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5876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058058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A8392F"/>
                </a:solidFill>
                <a:latin typeface="Courier New"/>
              </a:rPr>
              <a:t>35</a:t>
            </a:r>
            <a:r>
              <a:rPr sz="1600">
                <a:solidFill>
                  <a:srgbClr val="6B5B45"/>
                </a:solidFill>
                <a:latin typeface="Courier New"/>
              </a:rPr>
              <a:t>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40">
                <a:solidFill>
                  <a:srgbClr val="6B5B45"/>
                </a:solidFill>
                <a:latin typeface="Arial"/>
              </a:rPr>
              <a:t>PAGESPEED EN MÓVIL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30580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B5B45"/>
                </a:solidFill>
                <a:latin typeface="Arial"/>
              </a:rPr>
              <a:t>64 sobre 100 en ordenador. El catálogo tarda demasiado en mostrar fotos y vídeos sin comprimir.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9074" y="3858768"/>
            <a:ext cx="10972" cy="1783080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4114800"/>
            <a:ext cx="3058058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241C15"/>
                </a:solidFill>
                <a:latin typeface="Courier New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47091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40">
                <a:solidFill>
                  <a:srgbClr val="6B5B45"/>
                </a:solidFill>
                <a:latin typeface="Arial"/>
              </a:rPr>
              <a:t>FORMULARIOS DE CONTACTO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250" y="5029200"/>
            <a:ext cx="30580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B5B45"/>
                </a:solidFill>
                <a:latin typeface="Arial"/>
              </a:rPr>
              <a:t>Quien quiere cotizar tiene que buscar el teléfono o abrir su propio correo. Cada clic extra enfría la venta.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44332" y="3858768"/>
            <a:ext cx="10972" cy="1783080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9508" y="4114800"/>
            <a:ext cx="3058058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A8392F"/>
                </a:solidFill>
                <a:latin typeface="Courier New"/>
              </a:rPr>
              <a:t>4,1</a:t>
            </a:r>
            <a:r>
              <a:rPr sz="1600">
                <a:solidFill>
                  <a:srgbClr val="6B5B45"/>
                </a:solidFill>
                <a:latin typeface="Courier New"/>
              </a:rPr>
              <a:t>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9508" y="47091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40">
                <a:solidFill>
                  <a:srgbClr val="6B5B45"/>
                </a:solidFill>
                <a:latin typeface="Arial"/>
              </a:rPr>
              <a:t>GOOGLE BUSINESS · 8 RESEÑAS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9508" y="5029200"/>
            <a:ext cx="30580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B5B45"/>
                </a:solidFill>
                <a:latin typeface="Arial"/>
              </a:rPr>
              <a:t>La más reciente es de 1 estrella: pidió información y no tuvo respuesta clara ni rápida.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64184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605332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65383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6B5B45"/>
                </a:solidFill>
                <a:latin typeface="Arial"/>
              </a:rPr>
              <a:t>La Norma no tiene un problema de producto. </a:t>
            </a:r>
            <a:r>
              <a:rPr sz="1050" b="1">
                <a:solidFill>
                  <a:srgbClr val="241C15"/>
                </a:solidFill>
                <a:latin typeface="Arial"/>
              </a:rPr>
              <a:t>Tiene un problema de fricción en la entrada.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 spc="30">
                <a:solidFill>
                  <a:srgbClr val="6B5B45"/>
                </a:solidFill>
                <a:latin typeface="Courier New"/>
              </a:rPr>
              <a:t>Fuente: PageSpeed Insights y Google Maps · sept.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F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anorma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"/>
            <a:ext cx="1199347" cy="210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39935" y="429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60">
                <a:solidFill>
                  <a:srgbClr val="B7A489"/>
                </a:solidFill>
                <a:latin typeface="Courier New"/>
              </a:rPr>
              <a:t>03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B8843C"/>
                </a:solidFill>
                <a:latin typeface="Arial"/>
              </a:rPr>
              <a:t>PRUEBA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3ECDD"/>
                </a:solidFill>
                <a:latin typeface="Georgia"/>
              </a:rPr>
              <a:t>De 35 a 99 sobre 100. Sé exactamente cómo se hace.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B7A489"/>
                </a:solidFill>
                <a:latin typeface="Arial"/>
              </a:rPr>
              <a:t>No es teoría de agencia: son dos sitios que ya existen y se pueden abrir en directo, ahora mismo, en este portátil.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30752"/>
            <a:ext cx="4907127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9071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B8843C"/>
                </a:solidFill>
                <a:latin typeface="Courier New"/>
              </a:rPr>
              <a:t>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3ECDD"/>
                </a:solidFill>
                <a:latin typeface="Georgia"/>
              </a:rPr>
              <a:t>lanorma.es — WordPress con sobrecarga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Rendimiento móvil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4800600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08074"/>
                </a:solidFill>
                <a:latin typeface="Courier New"/>
              </a:rPr>
              <a:t>35 /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48072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Rendimiento ordenador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523" y="5148072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08074"/>
                </a:solidFill>
                <a:latin typeface="Courier New"/>
              </a:rPr>
              <a:t>64 /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22392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95544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Carga del catálogo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523" y="5495544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08074"/>
                </a:solidFill>
                <a:latin typeface="Courier New"/>
              </a:rPr>
              <a:t>lenta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769864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1607" y="3730752"/>
            <a:ext cx="4907127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3931920"/>
            <a:ext cx="49071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B8843C"/>
                </a:solidFill>
                <a:latin typeface="Courier New"/>
              </a:rPr>
              <a:t>HECHO POR MÍ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4224528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3ECDD"/>
                </a:solidFill>
                <a:latin typeface="Georgia"/>
              </a:rPr>
              <a:t>oliveirafotos.es y el prototipo Ln 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4800600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Rendimiento móvil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171" y="4800600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4C48C"/>
                </a:solidFill>
                <a:latin typeface="Courier New"/>
              </a:rPr>
              <a:t>99 /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5074920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607" y="5148072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Rendimiento ordenador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5148072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4C48C"/>
                </a:solidFill>
                <a:latin typeface="Courier New"/>
              </a:rPr>
              <a:t>100 / 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607" y="5422392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5495544"/>
            <a:ext cx="30424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7A489"/>
                </a:solidFill>
                <a:latin typeface="Arial"/>
              </a:rPr>
              <a:t>Carga en teléfono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5495544"/>
            <a:ext cx="24535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4C48C"/>
                </a:solidFill>
                <a:latin typeface="Courier New"/>
              </a:rPr>
              <a:t>&lt; 0,6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1607" y="5769864"/>
            <a:ext cx="4907127" cy="7315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94960"/>
            <a:ext cx="78038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3ECDD"/>
                </a:solidFill>
                <a:latin typeface="Georgia"/>
              </a:rPr>
              <a:t>Una agencia externa cobraría entre 2.500 € y 4.000 €, y tardaría dos meses solo en entender qué máquina vendemos y qué componentes lleva.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05332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199632"/>
            <a:ext cx="65383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B7A489"/>
                </a:solidFill>
                <a:latin typeface="Arial"/>
              </a:rPr>
              <a:t>Prueba en vivo: </a:t>
            </a:r>
            <a:r>
              <a:rPr sz="1050" b="1">
                <a:solidFill>
                  <a:srgbClr val="F3ECDD"/>
                </a:solidFill>
                <a:latin typeface="Arial"/>
              </a:rPr>
              <a:t>podemos abrir la comparativa en el navegador cuando quieras.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6735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 spc="30">
                <a:solidFill>
                  <a:srgbClr val="B7A489"/>
                </a:solidFill>
                <a:latin typeface="Courier New"/>
              </a:rPr>
              <a:t>Google Lighthouse · Core Web Vitals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D9B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ano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"/>
            <a:ext cx="1199347" cy="210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39935" y="429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60">
                <a:solidFill>
                  <a:srgbClr val="6B5B45"/>
                </a:solidFill>
                <a:latin typeface="Courier New"/>
              </a:rPr>
              <a:t>04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B5B45"/>
                </a:solidFill>
                <a:latin typeface="Arial"/>
              </a:rPr>
              <a:t>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241C15"/>
                </a:solidFill>
                <a:latin typeface="Georgia"/>
              </a:rPr>
              <a:t>Dejar la web impecable y lista para vender.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5B45"/>
                </a:solidFill>
                <a:latin typeface="Arial"/>
              </a:rPr>
              <a:t>Un trabajo quirúrgico y directo, empezando por lo que genera impacto inmediato en la venta.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1304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C5623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2394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41C15"/>
                </a:solidFill>
                <a:latin typeface="Georgia"/>
              </a:rPr>
              <a:t>Aligerar el catálogo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0872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6B5B45"/>
                </a:solidFill>
                <a:latin typeface="Arial"/>
              </a:rPr>
              <a:t>Que el cliente vea la gama Ln1 —Compacta, 2 y 3 grupos— y el lanzamiento Ln 200 sin esperar un solo segundo en el móvil.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5378" y="361188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378" y="381304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C5623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378" y="412394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41C15"/>
                </a:solidFill>
                <a:latin typeface="Georgia"/>
              </a:rPr>
              <a:t>Canal directo al taller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378" y="4690872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6B5B45"/>
                </a:solidFill>
                <a:latin typeface="Arial"/>
              </a:rPr>
              <a:t>«Dinos cuántos cafés sirves al día y te decimos qué máquina necesitas.» Contacto en un clic, sin buscar el teléfono.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361188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381304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C5623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412394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41C15"/>
                </a:solidFill>
                <a:latin typeface="Georgia"/>
              </a:rPr>
              <a:t>Ya estoy dentro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690872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6B5B45"/>
                </a:solidFill>
                <a:latin typeface="Arial"/>
              </a:rPr>
              <a:t>Monto las máquinas con mis propias manos. Sé qué es el grupo erogador, el PID y la caldera: cero tiempo de adaptación.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78038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41C15"/>
                </a:solidFill>
                <a:latin typeface="Georgia"/>
              </a:rPr>
              <a:t>Si una sola máquina se vende porque un distribuidor navegó cómodo en el móvil y dejó sus datos, la web queda amortizada varias veces.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053328"/>
            <a:ext cx="10545775" cy="10972"/>
          </a:xfrm>
          <a:prstGeom prst="rect">
            <a:avLst/>
          </a:prstGeom>
          <a:solidFill>
            <a:srgbClr val="D6C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65383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6B5B45"/>
                </a:solidFill>
                <a:latin typeface="Arial"/>
              </a:rPr>
              <a:t>Ejecución rápida: </a:t>
            </a:r>
            <a:r>
              <a:rPr sz="1050" b="1">
                <a:solidFill>
                  <a:srgbClr val="241C15"/>
                </a:solidFill>
                <a:latin typeface="Arial"/>
              </a:rPr>
              <a:t>prototipo listo para integrar en días, sin interrumpir el taller.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 spc="30">
                <a:solidFill>
                  <a:srgbClr val="6B5B45"/>
                </a:solidFill>
                <a:latin typeface="Courier New"/>
              </a:rPr>
              <a:t>Cero riesgo · retorno inmediato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F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lanorma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"/>
            <a:ext cx="1199347" cy="210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39935" y="429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60">
                <a:solidFill>
                  <a:srgbClr val="B7A489"/>
                </a:solidFill>
                <a:latin typeface="Courier New"/>
              </a:rPr>
              <a:t>05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B8843C"/>
                </a:solidFill>
                <a:latin typeface="Arial"/>
              </a:rPr>
              <a:t>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 i="0">
                <a:solidFill>
                  <a:srgbClr val="F3ECDD"/>
                </a:solidFill>
                <a:latin typeface="Georgia"/>
              </a:rPr>
              <a:t>Primero la web. Después, lo que La Norma vaya necesitando.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1868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B8843C"/>
                </a:solidFill>
                <a:latin typeface="Courier New"/>
              </a:rPr>
              <a:t>PASO 1 ·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958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F3ECDD"/>
                </a:solidFill>
                <a:latin typeface="Georgia"/>
              </a:rPr>
              <a:t>La web y el catálogo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B7A489"/>
                </a:solidFill>
                <a:latin typeface="Arial"/>
              </a:rPr>
              <a:t>Resolver la velocidad en móvil, publicar la ficha de la Ln 200 y abrir el canal de contacto para cotizaciones directas.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5378" y="301752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378" y="321868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B8843C"/>
                </a:solidFill>
                <a:latin typeface="Courier New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5378" y="352958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F3ECDD"/>
                </a:solidFill>
                <a:latin typeface="Georgia"/>
              </a:rPr>
              <a:t>Redes con cara y ojos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378" y="4096511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B7A489"/>
                </a:solidFill>
                <a:latin typeface="Arial"/>
              </a:rPr>
              <a:t>Alimentar LinkedIn e Instagram con el taller real: la ingeniería y el montaje que la competencia no puede enseñar.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3017520"/>
            <a:ext cx="3240938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3218688"/>
            <a:ext cx="32409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B8843C"/>
                </a:solidFill>
                <a:latin typeface="Courier New"/>
              </a:rPr>
              <a:t>PASO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3529584"/>
            <a:ext cx="32409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F3ECDD"/>
                </a:solidFill>
                <a:latin typeface="Georgia"/>
              </a:rPr>
              <a:t>Seguimiento de ventas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4096511"/>
            <a:ext cx="32409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B7A489"/>
                </a:solidFill>
                <a:latin typeface="Arial"/>
              </a:rPr>
              <a:t>Que ningún presupuesto enviado se quede sin respuesta, y que los avisos no desborden la bandeja de entrada.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10545775" cy="25603"/>
          </a:xfrm>
          <a:prstGeom prst="rect">
            <a:avLst/>
          </a:prstGeom>
          <a:solidFill>
            <a:srgbClr val="B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3ECDD"/>
                </a:solidFill>
                <a:latin typeface="Georgia"/>
              </a:rPr>
              <a:t>Hablamos 10 minutos cuando te venga bien.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489"/>
                </a:solidFill>
                <a:latin typeface="Arial"/>
              </a:rPr>
              <a:t>Te enseño el prototipo en el móvil o en el portátil, en un descanso del taller.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8335" y="5285232"/>
            <a:ext cx="3200400" cy="475488"/>
          </a:xfrm>
          <a:prstGeom prst="rect">
            <a:avLst/>
          </a:prstGeom>
          <a:solidFill>
            <a:srgbClr val="170F0A"/>
          </a:solidFill>
          <a:ln w="12700">
            <a:solidFill>
              <a:srgbClr val="B88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8335" y="5440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 spc="40">
                <a:solidFill>
                  <a:srgbClr val="E4C48C"/>
                </a:solidFill>
                <a:latin typeface="Courier New"/>
              </a:rPr>
              <a:t>Diogo Torres · Taller de Valencia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53328"/>
            <a:ext cx="10545775" cy="10972"/>
          </a:xfrm>
          <a:prstGeom prst="rect">
            <a:avLst/>
          </a:prstGeom>
          <a:solidFill>
            <a:srgbClr val="3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65383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B7A489"/>
                </a:solidFill>
                <a:latin typeface="Arial"/>
              </a:rPr>
              <a:t>Propuesta interna: </a:t>
            </a:r>
            <a:r>
              <a:rPr sz="1050" b="1">
                <a:solidFill>
                  <a:srgbClr val="F3ECDD"/>
                </a:solidFill>
                <a:latin typeface="Arial"/>
              </a:rPr>
              <a:t>hecha para sumar a La Norma.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 spc="30">
                <a:solidFill>
                  <a:srgbClr val="B7A489"/>
                </a:solidFill>
                <a:latin typeface="Courier New"/>
              </a:rPr>
              <a:t>La Norma Coffee Machine Manufacturer S.L.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